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3" r:id="rId5"/>
    <p:sldId id="260" r:id="rId6"/>
    <p:sldId id="266" r:id="rId7"/>
    <p:sldId id="262" r:id="rId8"/>
    <p:sldId id="264" r:id="rId9"/>
    <p:sldId id="265" r:id="rId10"/>
    <p:sldId id="261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6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ibinaya/Intern-Nova-Data-Analytics-Project.gi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www.picpedia.org/post-it-note/t/thank-you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22314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35355" y="945424"/>
            <a:ext cx="10321290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rgbClr val="FFFFFF"/>
                </a:solidFill>
                <a:latin typeface="Snap ITC" panose="04040A07060A02020202" pitchFamily="82" charset="0"/>
              </a:rPr>
              <a:t>Pune Region School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1100" y="2853827"/>
            <a:ext cx="9829800" cy="2736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2400" b="0" i="0" u="none" dirty="0">
                <a:solidFill>
                  <a:srgbClr val="CBD5E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Analytics, Enrollment Trends, and Management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A7D656-4102-DF83-AA64-14F1BA7D105B}"/>
              </a:ext>
            </a:extLst>
          </p:cNvPr>
          <p:cNvSpPr txBox="1"/>
          <p:nvPr/>
        </p:nvSpPr>
        <p:spPr>
          <a:xfrm>
            <a:off x="4855028" y="3730573"/>
            <a:ext cx="7097485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Presented by</a:t>
            </a:r>
          </a:p>
          <a:p>
            <a:r>
              <a:rPr lang="en-US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</a:p>
          <a:p>
            <a:r>
              <a:rPr lang="en-US" dirty="0">
                <a:solidFill>
                  <a:schemeClr val="bg1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Comic Sans MS" panose="030F0702030302020204" pitchFamily="66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CIBINAYA G</a:t>
            </a:r>
          </a:p>
          <a:p>
            <a:endParaRPr lang="en-US" dirty="0">
              <a:solidFill>
                <a:schemeClr val="bg1"/>
              </a:solidFill>
              <a:latin typeface="Comic Sans MS" panose="030F0702030302020204" pitchFamily="66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INST26DA030365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0A4725-791B-F62C-6CA5-018F9FE21D09}"/>
              </a:ext>
            </a:extLst>
          </p:cNvPr>
          <p:cNvSpPr txBox="1"/>
          <p:nvPr/>
        </p:nvSpPr>
        <p:spPr>
          <a:xfrm>
            <a:off x="4506686" y="5758543"/>
            <a:ext cx="4648200" cy="64225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https://github.com/Cibinaya/Intern-Nova-Data-Analytics-Project.git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86025"/>
            <a:ext cx="3429000" cy="2838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2486025"/>
            <a:ext cx="3429000" cy="2838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2486025"/>
            <a:ext cx="3429000" cy="2838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54629" y="3514725"/>
            <a:ext cx="108642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 dirty="0">
                <a:solidFill>
                  <a:srgbClr val="F472B6"/>
                </a:solidFill>
                <a:latin typeface="Comic Sans MS" panose="030F0702030302020204" pitchFamily="66" charset="0"/>
              </a:rPr>
              <a:t>17,358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4114800"/>
            <a:ext cx="28384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 dirty="0">
                <a:solidFill>
                  <a:srgbClr val="94A3B8"/>
                </a:solidFill>
                <a:latin typeface="Lato"/>
              </a:rPr>
              <a:t>Total Students enrolled across the monitored institutions in the Pune region.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71457" y="3514725"/>
            <a:ext cx="66457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 dirty="0">
                <a:solidFill>
                  <a:srgbClr val="F472B6"/>
                </a:solidFill>
                <a:latin typeface="Comic Sans MS" panose="030F0702030302020204" pitchFamily="66" charset="0"/>
              </a:rPr>
              <a:t>219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6775" y="4114800"/>
            <a:ext cx="2838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Lato"/>
              </a:rPr>
              <a:t>Total active blocks and administrative regions registered in the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15963" y="3514725"/>
            <a:ext cx="58007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 dirty="0">
                <a:solidFill>
                  <a:srgbClr val="F472B6"/>
                </a:solidFill>
                <a:latin typeface="Comic Sans MS" panose="030F0702030302020204" pitchFamily="66" charset="0"/>
              </a:rPr>
              <a:t>269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86775" y="4114800"/>
            <a:ext cx="2838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Lato"/>
              </a:rPr>
              <a:t>Total standard 12 enrollments tracked for higher secondary analysis.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0250" y="2828925"/>
            <a:ext cx="5715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0" y="2828925"/>
            <a:ext cx="571500" cy="457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0" y="2828925"/>
            <a:ext cx="5715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0" i="0" u="none" dirty="0">
                <a:solidFill>
                  <a:srgbClr val="F472B6"/>
                </a:solidFill>
                <a:latin typeface="ROG Fonts" panose="00000500000000000000" pitchFamily="50" charset="0"/>
              </a:rPr>
              <a:t>High-Level Enrollment Statistics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2238375"/>
            <a:ext cx="4905375" cy="777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2400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Filtering:</a:t>
            </a:r>
            <a:r>
              <a:rPr sz="2400" b="0" i="0" u="none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Built with multi-faceted block names and management descriptions.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105150"/>
            <a:ext cx="4905375" cy="1033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2400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 Breakdown:</a:t>
            </a:r>
            <a:r>
              <a:rPr sz="2400" b="0" i="0" u="none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Visualized distributions across primary, upper primary, and secondary school classifications.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4446815"/>
            <a:ext cx="4905375" cy="7774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2400" b="1" i="0" u="none" dirty="0">
                <a:solidFill>
                  <a:srgbClr val="F8FAF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Regional Coverage:</a:t>
            </a:r>
            <a:r>
              <a:rPr sz="2400" b="0" i="0" u="none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Detailed blocks including Haveli, </a:t>
            </a:r>
            <a:r>
              <a:rPr sz="2400" b="0" i="0" u="none" dirty="0" err="1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Khed</a:t>
            </a:r>
            <a:r>
              <a:rPr sz="2400" b="0" i="0" u="none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b="0" i="0" u="none" dirty="0" err="1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Malshiras</a:t>
            </a:r>
            <a:r>
              <a:rPr sz="2400" b="0" i="0" u="none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sz="2400" b="0" i="0" u="none" dirty="0" err="1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Indapur</a:t>
            </a:r>
            <a:r>
              <a:rPr sz="2400" b="0" i="0" u="none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76475"/>
            <a:ext cx="200025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81325"/>
            <a:ext cx="20002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86175"/>
            <a:ext cx="200025" cy="2476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0" i="0" u="none" dirty="0">
                <a:solidFill>
                  <a:srgbClr val="F472B6"/>
                </a:solidFill>
                <a:latin typeface="ROG Fonts" panose="00000500000000000000" pitchFamily="50" charset="0"/>
              </a:rPr>
              <a:t>Power BI Dashboard Reference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1A01B-351C-237F-ADE8-F59D0DCD5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E77C21E-8714-A6FA-74F4-AEA42C88A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2E198B-4F11-EE03-AFC7-5A41D608B14D}"/>
              </a:ext>
            </a:extLst>
          </p:cNvPr>
          <p:cNvSpPr txBox="1"/>
          <p:nvPr/>
        </p:nvSpPr>
        <p:spPr>
          <a:xfrm>
            <a:off x="2416629" y="772885"/>
            <a:ext cx="69124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472B6"/>
                </a:solidFill>
                <a:latin typeface="ROG Fonts" panose="00000500000000000000" pitchFamily="50" charset="0"/>
              </a:rPr>
              <a:t>Power BI Dashboard </a:t>
            </a:r>
          </a:p>
          <a:p>
            <a:pPr algn="ctr"/>
            <a:endParaRPr lang="en-US" sz="2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E5B56A-55BF-501E-C013-DFA3D0561F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86" y="1426028"/>
            <a:ext cx="10515600" cy="543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30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4762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28862" y="4943475"/>
            <a:ext cx="7534275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1" u="none">
                <a:solidFill>
                  <a:srgbClr val="94A3B8"/>
                </a:solidFill>
                <a:latin typeface="Lato"/>
              </a:rPr>
              <a:t>Haveli and Khed represent the highest density of educational institutions across the monitored blocks.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0" i="0" u="none" dirty="0">
                <a:solidFill>
                  <a:srgbClr val="F472B6"/>
                </a:solidFill>
                <a:latin typeface="ROG Fonts" panose="00000500000000000000" pitchFamily="50" charset="0"/>
              </a:rPr>
              <a:t>Total Schools by Block Name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24410-AAE1-7219-4116-8D7CDB7D7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208A58B0-EBA7-E089-7868-6E1D07715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95FAF6-1272-751E-F40F-0D6390EB70E7}"/>
              </a:ext>
            </a:extLst>
          </p:cNvPr>
          <p:cNvSpPr txBox="1"/>
          <p:nvPr/>
        </p:nvSpPr>
        <p:spPr>
          <a:xfrm>
            <a:off x="2656114" y="2405743"/>
            <a:ext cx="6150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rgbClr val="F472B6"/>
                </a:solidFill>
                <a:latin typeface="ROG Fonts" panose="00000500000000000000" pitchFamily="50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41988531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FC1FAD3-4CDC-9408-3F1A-C2AD507EF8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43" y="1589309"/>
            <a:ext cx="5301343" cy="45720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AF9656F-09D0-96BD-DDB5-AA148A2DD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589309"/>
            <a:ext cx="5486411" cy="45720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EC080-8391-0D33-41BA-036EA801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010A130-6E07-804A-3294-3EA2572EF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06AAB64-6022-15A0-E82E-44DED003E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790" y="1545766"/>
            <a:ext cx="5426607" cy="45720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C009CA-AF23-D49E-6EB0-933F48346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443" y="1545766"/>
            <a:ext cx="4768770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02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EDEBA-A849-F1B2-6488-14B4EF1D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DC26630-3BD0-28FB-041C-271D349F0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81B96A-8546-4E49-75C9-7D989BA0A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991" y="1142995"/>
            <a:ext cx="9144018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24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86075"/>
            <a:ext cx="5286375" cy="2038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886075"/>
            <a:ext cx="5286375" cy="2038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9391" y="3276600"/>
            <a:ext cx="473059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 dirty="0">
                <a:solidFill>
                  <a:srgbClr val="F472B6"/>
                </a:solidFill>
                <a:latin typeface="Comic Sans MS" panose="030F0702030302020204" pitchFamily="66" charset="0"/>
              </a:rPr>
              <a:t>Resource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876675"/>
            <a:ext cx="4505325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2000" b="0" i="0" u="none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infrastructure funding toward high-density blocks like Haveli to support growing student populations effectively.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2016" y="3276600"/>
            <a:ext cx="4730591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 dirty="0">
                <a:solidFill>
                  <a:srgbClr val="F472B6"/>
                </a:solidFill>
                <a:latin typeface="Comic Sans MS" panose="030F0702030302020204" pitchFamily="66" charset="0"/>
              </a:rPr>
              <a:t>Targeted Interventions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3876675"/>
            <a:ext cx="4505325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2000" b="0" i="0" u="none" dirty="0">
                <a:solidFill>
                  <a:srgbClr val="94A3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 standard 12 retention and tracking protocols across rural and semi-urban block subdivisions.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0" i="0" u="none" dirty="0">
                <a:solidFill>
                  <a:srgbClr val="F472B6"/>
                </a:solidFill>
                <a:latin typeface="ROG Fonts" panose="00000500000000000000" pitchFamily="50" charset="0"/>
              </a:rPr>
              <a:t>Key Insights &amp; Recommendations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90D94-D0E3-879B-2445-10494E3EC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C0222CD-34CE-E832-AFFB-AD75D7A30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9DC2C5-BDD4-55BC-CBDC-59FD4D4DD2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035392-8663-CE96-3B0E-3577C6A13851}"/>
              </a:ext>
            </a:extLst>
          </p:cNvPr>
          <p:cNvSpPr txBox="1"/>
          <p:nvPr/>
        </p:nvSpPr>
        <p:spPr>
          <a:xfrm>
            <a:off x="952500" y="6858000"/>
            <a:ext cx="10287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www.picpedia.org/post-it-note/t/thank-you.html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736198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188</Words>
  <Application>Microsoft Office PowerPoint</Application>
  <PresentationFormat>Widescreen</PresentationFormat>
  <Paragraphs>29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Cascadia Code SemiBold</vt:lpstr>
      <vt:lpstr>Comic Sans MS</vt:lpstr>
      <vt:lpstr>Lato</vt:lpstr>
      <vt:lpstr>ROG Fonts</vt:lpstr>
      <vt:lpstr>Snap ITC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Cibinaya .</cp:lastModifiedBy>
  <cp:revision>5</cp:revision>
  <dcterms:created xsi:type="dcterms:W3CDTF">2013-01-27T09:14:16Z</dcterms:created>
  <dcterms:modified xsi:type="dcterms:W3CDTF">2026-09-11T15:47:35Z</dcterms:modified>
  <cp:category/>
</cp:coreProperties>
</file>